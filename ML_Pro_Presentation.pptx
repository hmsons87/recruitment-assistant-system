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Helvetica World Bold" panose="020B0604020202020204" charset="-128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TT Autonomous Mono" panose="020B0604020202020204" charset="0"/>
      <p:regular r:id="rId16"/>
    </p:embeddedFont>
    <p:embeddedFont>
      <p:font typeface="TT Autonomous Mono Bold" panose="020B0604020202020204" charset="0"/>
      <p:regular r:id="rId17"/>
    </p:embeddedFont>
    <p:embeddedFont>
      <p:font typeface="TT Firs Neue" panose="020B0604020202020204" charset="0"/>
      <p:regular r:id="rId18"/>
    </p:embeddedFont>
    <p:embeddedFont>
      <p:font typeface="TT Firs Neue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06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svg"/><Relationship Id="rId12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0.svg"/><Relationship Id="rId12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image" Target="../media/image22.png"/><Relationship Id="rId4" Type="http://schemas.openxmlformats.org/officeDocument/2006/relationships/image" Target="../media/image12.sv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12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6.svg"/><Relationship Id="rId5" Type="http://schemas.openxmlformats.org/officeDocument/2006/relationships/image" Target="../media/image12.svg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1.png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515734" y="1028700"/>
            <a:ext cx="7315200" cy="3182112"/>
          </a:xfrm>
          <a:custGeom>
            <a:avLst/>
            <a:gdLst/>
            <a:ahLst/>
            <a:cxnLst/>
            <a:rect l="l" t="t" r="r" b="b"/>
            <a:pathLst>
              <a:path w="7315200" h="3182112">
                <a:moveTo>
                  <a:pt x="0" y="3182112"/>
                </a:moveTo>
                <a:lnTo>
                  <a:pt x="7315200" y="3182112"/>
                </a:lnTo>
                <a:lnTo>
                  <a:pt x="7315200" y="0"/>
                </a:lnTo>
                <a:lnTo>
                  <a:pt x="0" y="0"/>
                </a:lnTo>
                <a:lnTo>
                  <a:pt x="0" y="31821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25744" y="5743754"/>
            <a:ext cx="7315200" cy="3182112"/>
          </a:xfrm>
          <a:custGeom>
            <a:avLst/>
            <a:gdLst/>
            <a:ahLst/>
            <a:cxnLst/>
            <a:rect l="l" t="t" r="r" b="b"/>
            <a:pathLst>
              <a:path w="7315200" h="3182112">
                <a:moveTo>
                  <a:pt x="0" y="3182112"/>
                </a:moveTo>
                <a:lnTo>
                  <a:pt x="7315200" y="3182112"/>
                </a:lnTo>
                <a:lnTo>
                  <a:pt x="7315200" y="0"/>
                </a:lnTo>
                <a:lnTo>
                  <a:pt x="0" y="0"/>
                </a:lnTo>
                <a:lnTo>
                  <a:pt x="0" y="31821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406318" y="111290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1474940" y="8517742"/>
            <a:ext cx="6618777" cy="656357"/>
            <a:chOff x="0" y="0"/>
            <a:chExt cx="1743217" cy="1728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43217" cy="172868"/>
            </a:xfrm>
            <a:custGeom>
              <a:avLst/>
              <a:gdLst/>
              <a:ahLst/>
              <a:cxnLst/>
              <a:rect l="l" t="t" r="r" b="b"/>
              <a:pathLst>
                <a:path w="1743217" h="172868">
                  <a:moveTo>
                    <a:pt x="51466" y="0"/>
                  </a:moveTo>
                  <a:lnTo>
                    <a:pt x="1691751" y="0"/>
                  </a:lnTo>
                  <a:cubicBezTo>
                    <a:pt x="1705400" y="0"/>
                    <a:pt x="1718491" y="5422"/>
                    <a:pt x="1728143" y="15074"/>
                  </a:cubicBezTo>
                  <a:cubicBezTo>
                    <a:pt x="1737795" y="24726"/>
                    <a:pt x="1743217" y="37817"/>
                    <a:pt x="1743217" y="51466"/>
                  </a:cubicBezTo>
                  <a:lnTo>
                    <a:pt x="1743217" y="121401"/>
                  </a:lnTo>
                  <a:cubicBezTo>
                    <a:pt x="1743217" y="135051"/>
                    <a:pt x="1737795" y="148142"/>
                    <a:pt x="1728143" y="157794"/>
                  </a:cubicBezTo>
                  <a:cubicBezTo>
                    <a:pt x="1718491" y="167445"/>
                    <a:pt x="1705400" y="172868"/>
                    <a:pt x="1691751" y="172868"/>
                  </a:cubicBezTo>
                  <a:lnTo>
                    <a:pt x="51466" y="172868"/>
                  </a:lnTo>
                  <a:cubicBezTo>
                    <a:pt x="37817" y="172868"/>
                    <a:pt x="24726" y="167445"/>
                    <a:pt x="15074" y="157794"/>
                  </a:cubicBezTo>
                  <a:cubicBezTo>
                    <a:pt x="5422" y="148142"/>
                    <a:pt x="0" y="135051"/>
                    <a:pt x="0" y="121401"/>
                  </a:cubicBezTo>
                  <a:lnTo>
                    <a:pt x="0" y="51466"/>
                  </a:lnTo>
                  <a:cubicBezTo>
                    <a:pt x="0" y="37817"/>
                    <a:pt x="5422" y="24726"/>
                    <a:pt x="15074" y="15074"/>
                  </a:cubicBezTo>
                  <a:cubicBezTo>
                    <a:pt x="24726" y="5422"/>
                    <a:pt x="37817" y="0"/>
                    <a:pt x="514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958FF">
                    <a:alpha val="100000"/>
                  </a:srgbClr>
                </a:gs>
                <a:gs pos="100000">
                  <a:srgbClr val="DF5E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43217" cy="21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9184005" y="944499"/>
            <a:ext cx="8075295" cy="8229600"/>
          </a:xfrm>
          <a:custGeom>
            <a:avLst/>
            <a:gdLst/>
            <a:ahLst/>
            <a:cxnLst/>
            <a:rect l="l" t="t" r="r" b="b"/>
            <a:pathLst>
              <a:path w="8075295" h="8229600">
                <a:moveTo>
                  <a:pt x="8075295" y="0"/>
                </a:moveTo>
                <a:lnTo>
                  <a:pt x="0" y="0"/>
                </a:lnTo>
                <a:lnTo>
                  <a:pt x="0" y="8229600"/>
                </a:lnTo>
                <a:lnTo>
                  <a:pt x="8075295" y="8229600"/>
                </a:lnTo>
                <a:lnTo>
                  <a:pt x="8075295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515734" y="8096656"/>
            <a:ext cx="3023801" cy="1161644"/>
          </a:xfrm>
          <a:custGeom>
            <a:avLst/>
            <a:gdLst/>
            <a:ahLst/>
            <a:cxnLst/>
            <a:rect l="l" t="t" r="r" b="b"/>
            <a:pathLst>
              <a:path w="3023801" h="1161644">
                <a:moveTo>
                  <a:pt x="0" y="0"/>
                </a:moveTo>
                <a:lnTo>
                  <a:pt x="3023801" y="0"/>
                </a:lnTo>
                <a:lnTo>
                  <a:pt x="3023801" y="1161644"/>
                </a:lnTo>
                <a:lnTo>
                  <a:pt x="0" y="1161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73758" y="1055065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421340" y="4615643"/>
            <a:ext cx="1402942" cy="527857"/>
          </a:xfrm>
          <a:custGeom>
            <a:avLst/>
            <a:gdLst/>
            <a:ahLst/>
            <a:cxnLst/>
            <a:rect l="l" t="t" r="r" b="b"/>
            <a:pathLst>
              <a:path w="1402942" h="527857">
                <a:moveTo>
                  <a:pt x="0" y="0"/>
                </a:moveTo>
                <a:lnTo>
                  <a:pt x="1402942" y="0"/>
                </a:lnTo>
                <a:lnTo>
                  <a:pt x="1402942" y="527857"/>
                </a:lnTo>
                <a:lnTo>
                  <a:pt x="0" y="527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2476881"/>
            <a:ext cx="10193890" cy="132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6"/>
              </a:lnSpc>
            </a:pPr>
            <a:r>
              <a:rPr lang="en-US" sz="7768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Smart Recruitment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4449" y="972841"/>
            <a:ext cx="3695800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1054" y="5441931"/>
            <a:ext cx="7630921" cy="85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4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Machine Learning Decision-Support System for Job-Change Intention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0114" y="7940009"/>
            <a:ext cx="2850951" cy="45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572972"/>
            <a:ext cx="4089294" cy="48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2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Hassan Muhammed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1054" y="3649327"/>
            <a:ext cx="7400152" cy="156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>
                <a:solidFill>
                  <a:srgbClr val="CFD5EA"/>
                </a:solidFill>
                <a:latin typeface="TT Autonomous Mono"/>
                <a:ea typeface="TT Autonomous Mono"/>
                <a:cs typeface="TT Autonomous Mono"/>
                <a:sym typeface="TT Autonomous Mono"/>
              </a:rPr>
              <a:t>Assistant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944499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06318" y="111290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50665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99433" y="6818735"/>
            <a:ext cx="4972050" cy="8229600"/>
          </a:xfrm>
          <a:custGeom>
            <a:avLst/>
            <a:gdLst/>
            <a:ahLst/>
            <a:cxnLst/>
            <a:rect l="l" t="t" r="r" b="b"/>
            <a:pathLst>
              <a:path w="4972050" h="8229600">
                <a:moveTo>
                  <a:pt x="0" y="0"/>
                </a:moveTo>
                <a:lnTo>
                  <a:pt x="4972050" y="0"/>
                </a:lnTo>
                <a:lnTo>
                  <a:pt x="49720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73758" y="1050665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62356" y="1079007"/>
            <a:ext cx="3695800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08928" y="1212357"/>
            <a:ext cx="8278808" cy="44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3500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Recruitment Screening Challenge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6249" y="4880318"/>
            <a:ext cx="7309551" cy="2781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764" lvl="1" indent="-284882" algn="l">
              <a:lnSpc>
                <a:spcPts val="3694"/>
              </a:lnSpc>
              <a:buFont typeface="Arial"/>
              <a:buChar char="•"/>
            </a:pPr>
            <a:r>
              <a:rPr lang="en-US" sz="2639" spc="-1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HR teams review large volumes of candidate profiles.</a:t>
            </a:r>
          </a:p>
          <a:p>
            <a:pPr marL="569764" lvl="1" indent="-284882" algn="l">
              <a:lnSpc>
                <a:spcPts val="3694"/>
              </a:lnSpc>
              <a:buFont typeface="Arial"/>
              <a:buChar char="•"/>
            </a:pPr>
            <a:r>
              <a:rPr lang="en-US" sz="2639" spc="-1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Manual screening takes time and may delay outreach.</a:t>
            </a:r>
          </a:p>
          <a:p>
            <a:pPr marL="569764" lvl="1" indent="-284882" algn="l">
              <a:lnSpc>
                <a:spcPts val="3694"/>
              </a:lnSpc>
              <a:buFont typeface="Arial"/>
              <a:buChar char="•"/>
            </a:pPr>
            <a:r>
              <a:rPr lang="en-US" sz="2639" spc="-1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Recruiters need a data-driven signal to prioritize follow-up.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36249" y="3006344"/>
            <a:ext cx="8944530" cy="51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198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Goal:</a:t>
            </a:r>
            <a:r>
              <a:rPr lang="en-US" sz="3000" spc="-198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 estimate job-change intention, not hiring eligibility.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824515" y="2377326"/>
            <a:ext cx="1846968" cy="6055633"/>
            <a:chOff x="0" y="0"/>
            <a:chExt cx="2462624" cy="8074178"/>
          </a:xfrm>
        </p:grpSpPr>
        <p:sp>
          <p:nvSpPr>
            <p:cNvPr id="11" name="Freeform 11"/>
            <p:cNvSpPr/>
            <p:nvPr/>
          </p:nvSpPr>
          <p:spPr>
            <a:xfrm rot="5400000">
              <a:off x="-2805777" y="2805777"/>
              <a:ext cx="8074178" cy="2462624"/>
            </a:xfrm>
            <a:custGeom>
              <a:avLst/>
              <a:gdLst/>
              <a:ahLst/>
              <a:cxnLst/>
              <a:rect l="l" t="t" r="r" b="b"/>
              <a:pathLst>
                <a:path w="8074178" h="2462624">
                  <a:moveTo>
                    <a:pt x="0" y="0"/>
                  </a:moveTo>
                  <a:lnTo>
                    <a:pt x="8074178" y="0"/>
                  </a:lnTo>
                  <a:lnTo>
                    <a:pt x="8074178" y="2462624"/>
                  </a:lnTo>
                  <a:lnTo>
                    <a:pt x="0" y="246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213897" y="3304251"/>
              <a:ext cx="2161663" cy="1518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52"/>
                </a:lnSpc>
              </a:pPr>
              <a:r>
                <a:rPr lang="en-US" sz="2108" b="1" dirty="0">
                  <a:solidFill>
                    <a:schemeClr val="bg1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Manual </a:t>
              </a:r>
            </a:p>
            <a:p>
              <a:pPr algn="just">
                <a:lnSpc>
                  <a:spcPts val="2952"/>
                </a:lnSpc>
              </a:pPr>
              <a:r>
                <a:rPr lang="en-US" sz="2108" b="1" dirty="0">
                  <a:solidFill>
                    <a:schemeClr val="bg1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Review</a:t>
              </a:r>
            </a:p>
            <a:p>
              <a:pPr algn="just">
                <a:lnSpc>
                  <a:spcPts val="2952"/>
                </a:lnSpc>
              </a:pPr>
              <a:r>
                <a:rPr lang="en-US" sz="2108" b="1" dirty="0">
                  <a:solidFill>
                    <a:schemeClr val="bg1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Bottleneck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963" y="6057521"/>
              <a:ext cx="1860700" cy="1518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52"/>
                </a:lnSpc>
              </a:pPr>
              <a:r>
                <a:rPr lang="en-US" sz="2108" b="1" dirty="0">
                  <a:solidFill>
                    <a:schemeClr val="bg1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Delayed Recruiter Outreach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547" y="613112"/>
              <a:ext cx="1987532" cy="1005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52"/>
                </a:lnSpc>
              </a:pPr>
              <a:r>
                <a:rPr lang="en-US" sz="2108" b="1" dirty="0">
                  <a:solidFill>
                    <a:schemeClr val="bg1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Candidate </a:t>
              </a:r>
            </a:p>
            <a:p>
              <a:pPr algn="just">
                <a:lnSpc>
                  <a:spcPts val="2952"/>
                </a:lnSpc>
              </a:pPr>
              <a:r>
                <a:rPr lang="en-US" sz="2108" b="1" dirty="0">
                  <a:solidFill>
                    <a:schemeClr val="bg1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Profiles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9885" y="7427793"/>
            <a:ext cx="8735533" cy="8229600"/>
          </a:xfrm>
          <a:custGeom>
            <a:avLst/>
            <a:gdLst/>
            <a:ahLst/>
            <a:cxnLst/>
            <a:rect l="l" t="t" r="r" b="b"/>
            <a:pathLst>
              <a:path w="8735533" h="8229600">
                <a:moveTo>
                  <a:pt x="0" y="0"/>
                </a:moveTo>
                <a:lnTo>
                  <a:pt x="8735533" y="0"/>
                </a:lnTo>
                <a:lnTo>
                  <a:pt x="87355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15119" y="158896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73758" y="1033136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144000" y="2414912"/>
            <a:ext cx="8237175" cy="4962116"/>
            <a:chOff x="0" y="0"/>
            <a:chExt cx="10982900" cy="661615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982900" cy="6616154"/>
              <a:chOff x="0" y="0"/>
              <a:chExt cx="2169462" cy="13068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169462" cy="1306895"/>
              </a:xfrm>
              <a:custGeom>
                <a:avLst/>
                <a:gdLst/>
                <a:ahLst/>
                <a:cxnLst/>
                <a:rect l="l" t="t" r="r" b="b"/>
                <a:pathLst>
                  <a:path w="2169462" h="1306895">
                    <a:moveTo>
                      <a:pt x="0" y="0"/>
                    </a:moveTo>
                    <a:lnTo>
                      <a:pt x="2169462" y="0"/>
                    </a:lnTo>
                    <a:lnTo>
                      <a:pt x="2169462" y="1306895"/>
                    </a:lnTo>
                    <a:lnTo>
                      <a:pt x="0" y="1306895"/>
                    </a:lnTo>
                    <a:close/>
                  </a:path>
                </a:pathLst>
              </a:custGeom>
              <a:solidFill>
                <a:srgbClr val="A44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169462" cy="1344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03889" y="103234"/>
              <a:ext cx="10766386" cy="6437367"/>
            </a:xfrm>
            <a:custGeom>
              <a:avLst/>
              <a:gdLst/>
              <a:ahLst/>
              <a:cxnLst/>
              <a:rect l="l" t="t" r="r" b="b"/>
              <a:pathLst>
                <a:path w="10766386" h="6437367">
                  <a:moveTo>
                    <a:pt x="0" y="0"/>
                  </a:moveTo>
                  <a:lnTo>
                    <a:pt x="10766385" y="0"/>
                  </a:lnTo>
                  <a:lnTo>
                    <a:pt x="10766385" y="6437367"/>
                  </a:lnTo>
                  <a:lnTo>
                    <a:pt x="0" y="6437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61" b="-146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646683" y="1057143"/>
            <a:ext cx="3695800" cy="45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97708" y="1214651"/>
            <a:ext cx="8049623" cy="84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54"/>
              </a:lnSpc>
              <a:spcBef>
                <a:spcPct val="0"/>
              </a:spcBef>
            </a:pPr>
            <a:r>
              <a:rPr lang="en-US" sz="3499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HR Analytics: Job Change of Data Scientists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10080" y="7677601"/>
            <a:ext cx="4661134" cy="58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13"/>
              </a:lnSpc>
              <a:spcBef>
                <a:spcPct val="0"/>
              </a:spcBef>
            </a:pPr>
            <a:r>
              <a:rPr lang="en-US" sz="2380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19,158 Candidate Profiles</a:t>
            </a:r>
          </a:p>
          <a:p>
            <a:pPr marL="0" lvl="0" indent="0" algn="just">
              <a:lnSpc>
                <a:spcPts val="2213"/>
              </a:lnSpc>
              <a:spcBef>
                <a:spcPct val="0"/>
              </a:spcBef>
            </a:pPr>
            <a:r>
              <a:rPr lang="en-US" sz="2380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14 Data Columns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302257"/>
            <a:ext cx="4569120" cy="129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 dirty="0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Target = 1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 dirty="0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Looking for a job change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 dirty="0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24.93%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657890"/>
            <a:ext cx="5394181" cy="129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Target = 0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Not looking for a job change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75.07%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534324"/>
            <a:ext cx="7631519" cy="108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3"/>
              </a:lnSpc>
            </a:pPr>
            <a:r>
              <a:rPr lang="en-US" sz="2102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Examples: education level, experience, company type,</a:t>
            </a:r>
          </a:p>
          <a:p>
            <a:pPr algn="just">
              <a:lnSpc>
                <a:spcPts val="2943"/>
              </a:lnSpc>
            </a:pPr>
            <a:r>
              <a:rPr lang="en-US" sz="2102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training hours, employment history, city development index.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88013" y="1691374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0114" y="1330790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65639" y="7189689"/>
            <a:ext cx="4972050" cy="8229600"/>
          </a:xfrm>
          <a:custGeom>
            <a:avLst/>
            <a:gdLst/>
            <a:ahLst/>
            <a:cxnLst/>
            <a:rect l="l" t="t" r="r" b="b"/>
            <a:pathLst>
              <a:path w="4972050" h="8229600">
                <a:moveTo>
                  <a:pt x="0" y="0"/>
                </a:moveTo>
                <a:lnTo>
                  <a:pt x="4972050" y="0"/>
                </a:lnTo>
                <a:lnTo>
                  <a:pt x="49720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77206" y="1161231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012112" y="3564372"/>
            <a:ext cx="6378036" cy="3684733"/>
            <a:chOff x="0" y="0"/>
            <a:chExt cx="8504048" cy="49129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70589" cy="703809"/>
            </a:xfrm>
            <a:custGeom>
              <a:avLst/>
              <a:gdLst/>
              <a:ahLst/>
              <a:cxnLst/>
              <a:rect l="l" t="t" r="r" b="b"/>
              <a:pathLst>
                <a:path w="1870589" h="703809">
                  <a:moveTo>
                    <a:pt x="0" y="0"/>
                  </a:moveTo>
                  <a:lnTo>
                    <a:pt x="1870589" y="0"/>
                  </a:lnTo>
                  <a:lnTo>
                    <a:pt x="1870589" y="703809"/>
                  </a:lnTo>
                  <a:lnTo>
                    <a:pt x="0" y="703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21073" y="2216439"/>
              <a:ext cx="1870589" cy="703809"/>
            </a:xfrm>
            <a:custGeom>
              <a:avLst/>
              <a:gdLst/>
              <a:ahLst/>
              <a:cxnLst/>
              <a:rect l="l" t="t" r="r" b="b"/>
              <a:pathLst>
                <a:path w="1870589" h="703809">
                  <a:moveTo>
                    <a:pt x="0" y="0"/>
                  </a:moveTo>
                  <a:lnTo>
                    <a:pt x="1870590" y="0"/>
                  </a:lnTo>
                  <a:lnTo>
                    <a:pt x="1870590" y="703809"/>
                  </a:lnTo>
                  <a:lnTo>
                    <a:pt x="0" y="703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2144268" y="2963878"/>
              <a:ext cx="6359780" cy="1949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experience_years</a:t>
              </a:r>
            </a:p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training_hours_log</a:t>
              </a:r>
            </a:p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training_intensity</a:t>
              </a:r>
            </a:p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missing-value indicators</a:t>
              </a:r>
            </a:p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city-development × experience interaction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43728" y="742263"/>
              <a:ext cx="6211504" cy="1162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No duplicate rows found</a:t>
              </a:r>
            </a:p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Missing values handled inside the pipeline</a:t>
              </a:r>
            </a:p>
            <a:p>
              <a:pPr marL="361613" lvl="1" indent="-180807" algn="l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Sensitive feature excluded: gender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8497" y="63197"/>
              <a:ext cx="2538052" cy="520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4"/>
                </a:lnSpc>
              </a:pPr>
              <a:r>
                <a:rPr lang="en-US" sz="2302">
                  <a:gradFill>
                    <a:gsLst>
                      <a:gs pos="0">
                        <a:srgbClr val="DF5EFF">
                          <a:alpha val="100000"/>
                        </a:srgbClr>
                      </a:gs>
                      <a:gs pos="100000">
                        <a:srgbClr val="A958FF">
                          <a:alpha val="100000"/>
                        </a:srgbClr>
                      </a:gs>
                    </a:gsLst>
                    <a:lin ang="0"/>
                  </a:gradFill>
                  <a:latin typeface="TT Firs Neue"/>
                  <a:ea typeface="TT Firs Neue"/>
                  <a:cs typeface="TT Firs Neue"/>
                  <a:sym typeface="TT Firs Neue"/>
                </a:rPr>
                <a:t>Data quality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98974" y="2279636"/>
              <a:ext cx="3889195" cy="520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4"/>
                </a:lnSpc>
              </a:pPr>
              <a:r>
                <a:rPr lang="en-US" sz="2302">
                  <a:gradFill>
                    <a:gsLst>
                      <a:gs pos="0">
                        <a:srgbClr val="DF5EFF">
                          <a:alpha val="100000"/>
                        </a:srgbClr>
                      </a:gs>
                      <a:gs pos="100000">
                        <a:srgbClr val="A958FF">
                          <a:alpha val="100000"/>
                        </a:srgbClr>
                      </a:gs>
                    </a:gsLst>
                    <a:lin ang="0"/>
                  </a:gradFill>
                  <a:latin typeface="TT Firs Neue"/>
                  <a:ea typeface="TT Firs Neue"/>
                  <a:cs typeface="TT Firs Neue"/>
                  <a:sym typeface="TT Firs Neue"/>
                </a:rPr>
                <a:t>Engineered features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29219" y="6044982"/>
            <a:ext cx="4618594" cy="3213318"/>
            <a:chOff x="0" y="0"/>
            <a:chExt cx="6158126" cy="42844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77494" cy="4284424"/>
            </a:xfrm>
            <a:custGeom>
              <a:avLst/>
              <a:gdLst/>
              <a:ahLst/>
              <a:cxnLst/>
              <a:rect l="l" t="t" r="r" b="b"/>
              <a:pathLst>
                <a:path w="3577494" h="4284424">
                  <a:moveTo>
                    <a:pt x="0" y="0"/>
                  </a:moveTo>
                  <a:lnTo>
                    <a:pt x="3577494" y="0"/>
                  </a:lnTo>
                  <a:lnTo>
                    <a:pt x="3577494" y="4284424"/>
                  </a:lnTo>
                  <a:lnTo>
                    <a:pt x="0" y="428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157102" y="252420"/>
              <a:ext cx="1705237" cy="44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30"/>
                </a:lnSpc>
              </a:pPr>
              <a:r>
                <a:rPr lang="en-US" sz="2021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Raw Data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7102" y="1052417"/>
              <a:ext cx="3396496" cy="44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30"/>
                </a:lnSpc>
              </a:pPr>
              <a:r>
                <a:rPr lang="en-US" sz="2021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Data Quality Checks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7102" y="1900826"/>
              <a:ext cx="2572549" cy="44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30"/>
                </a:lnSpc>
              </a:pPr>
              <a:r>
                <a:rPr lang="en-US" sz="2021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Train/Test 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7102" y="2751069"/>
              <a:ext cx="5001024" cy="44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30"/>
                </a:lnSpc>
              </a:pPr>
              <a:r>
                <a:rPr lang="en-US" sz="2021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Pipeline-based Preprocessing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7102" y="3601313"/>
              <a:ext cx="3721738" cy="44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30"/>
                </a:lnSpc>
              </a:pPr>
              <a:r>
                <a:rPr lang="en-US" sz="2021">
                  <a:solidFill>
                    <a:srgbClr val="CFD5EA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Model-ready Features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29473" y="3034948"/>
            <a:ext cx="9713887" cy="2687025"/>
            <a:chOff x="0" y="0"/>
            <a:chExt cx="12951849" cy="35827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2951849" cy="3582700"/>
              <a:chOff x="0" y="0"/>
              <a:chExt cx="2476112" cy="68493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476112" cy="684934"/>
              </a:xfrm>
              <a:custGeom>
                <a:avLst/>
                <a:gdLst/>
                <a:ahLst/>
                <a:cxnLst/>
                <a:rect l="l" t="t" r="r" b="b"/>
                <a:pathLst>
                  <a:path w="2476112" h="684934">
                    <a:moveTo>
                      <a:pt x="0" y="0"/>
                    </a:moveTo>
                    <a:lnTo>
                      <a:pt x="2476112" y="0"/>
                    </a:lnTo>
                    <a:lnTo>
                      <a:pt x="2476112" y="684934"/>
                    </a:lnTo>
                    <a:lnTo>
                      <a:pt x="0" y="684934"/>
                    </a:lnTo>
                    <a:close/>
                  </a:path>
                </a:pathLst>
              </a:custGeom>
              <a:solidFill>
                <a:srgbClr val="A44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476112" cy="7230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69089" y="38214"/>
              <a:ext cx="12828026" cy="3474257"/>
            </a:xfrm>
            <a:custGeom>
              <a:avLst/>
              <a:gdLst/>
              <a:ahLst/>
              <a:cxnLst/>
              <a:rect l="l" t="t" r="r" b="b"/>
              <a:pathLst>
                <a:path w="12828026" h="3474257">
                  <a:moveTo>
                    <a:pt x="0" y="0"/>
                  </a:moveTo>
                  <a:lnTo>
                    <a:pt x="12828026" y="0"/>
                  </a:lnTo>
                  <a:lnTo>
                    <a:pt x="12828026" y="3474257"/>
                  </a:lnTo>
                  <a:lnTo>
                    <a:pt x="0" y="3474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2290616" y="1359138"/>
            <a:ext cx="3695800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90976" y="1502013"/>
            <a:ext cx="5974963" cy="930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3799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Data Preparation and Feature Engineering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74828" y="8428644"/>
            <a:ext cx="10324553" cy="31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27"/>
              </a:lnSpc>
              <a:spcBef>
                <a:spcPct val="0"/>
              </a:spcBef>
            </a:pPr>
            <a:r>
              <a:rPr lang="en-US" sz="2180" b="1" u="none" strike="noStrike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Helvetica World Bold"/>
                <a:ea typeface="Helvetica World Bold"/>
                <a:cs typeface="Helvetica World Bold"/>
                <a:sym typeface="Helvetica World Bold"/>
              </a:rPr>
              <a:t>All imputers and encoders learn from training data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06318" y="111290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112901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18932" y="-1351022"/>
            <a:ext cx="7938135" cy="8229600"/>
          </a:xfrm>
          <a:custGeom>
            <a:avLst/>
            <a:gdLst/>
            <a:ahLst/>
            <a:cxnLst/>
            <a:rect l="l" t="t" r="r" b="b"/>
            <a:pathLst>
              <a:path w="7938135" h="8229600">
                <a:moveTo>
                  <a:pt x="0" y="0"/>
                </a:moveTo>
                <a:lnTo>
                  <a:pt x="7938136" y="0"/>
                </a:lnTo>
                <a:lnTo>
                  <a:pt x="79381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475293" y="5722839"/>
            <a:ext cx="1402942" cy="527857"/>
          </a:xfrm>
          <a:custGeom>
            <a:avLst/>
            <a:gdLst/>
            <a:ahLst/>
            <a:cxnLst/>
            <a:rect l="l" t="t" r="r" b="b"/>
            <a:pathLst>
              <a:path w="1402942" h="527857">
                <a:moveTo>
                  <a:pt x="0" y="0"/>
                </a:moveTo>
                <a:lnTo>
                  <a:pt x="1402942" y="0"/>
                </a:lnTo>
                <a:lnTo>
                  <a:pt x="1402942" y="527857"/>
                </a:lnTo>
                <a:lnTo>
                  <a:pt x="0" y="527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23631" y="943336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3" y="0"/>
                </a:lnTo>
                <a:lnTo>
                  <a:pt x="2085543" y="899391"/>
                </a:lnTo>
                <a:lnTo>
                  <a:pt x="0" y="899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7370" y="3276540"/>
            <a:ext cx="6953156" cy="5180101"/>
          </a:xfrm>
          <a:custGeom>
            <a:avLst/>
            <a:gdLst/>
            <a:ahLst/>
            <a:cxnLst/>
            <a:rect l="l" t="t" r="r" b="b"/>
            <a:pathLst>
              <a:path w="6953156" h="5180101">
                <a:moveTo>
                  <a:pt x="0" y="0"/>
                </a:moveTo>
                <a:lnTo>
                  <a:pt x="6953157" y="0"/>
                </a:lnTo>
                <a:lnTo>
                  <a:pt x="6953157" y="5180102"/>
                </a:lnTo>
                <a:lnTo>
                  <a:pt x="0" y="5180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036633" y="4938031"/>
            <a:ext cx="5179896" cy="3703626"/>
          </a:xfrm>
          <a:custGeom>
            <a:avLst/>
            <a:gdLst/>
            <a:ahLst/>
            <a:cxnLst/>
            <a:rect l="l" t="t" r="r" b="b"/>
            <a:pathLst>
              <a:path w="5179896" h="3703626">
                <a:moveTo>
                  <a:pt x="0" y="0"/>
                </a:moveTo>
                <a:lnTo>
                  <a:pt x="5179896" y="0"/>
                </a:lnTo>
                <a:lnTo>
                  <a:pt x="5179896" y="3703626"/>
                </a:lnTo>
                <a:lnTo>
                  <a:pt x="0" y="370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50466" y="1141243"/>
            <a:ext cx="3695800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5108" y="1213972"/>
            <a:ext cx="4594883" cy="44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5"/>
              </a:lnSpc>
            </a:pPr>
            <a:r>
              <a:rPr lang="en-US" sz="3500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Modeling Approach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20505" y="4812425"/>
            <a:ext cx="4007554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Numeric: Median Imputation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Ordinal: Ordinal Encoding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Nominal: One-Hot Encoding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6556" y="6427000"/>
            <a:ext cx="3850182" cy="155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The target classes are imbalanced,</a:t>
            </a:r>
          </a:p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so accuracy alone can be misleading.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4864" y="6415172"/>
            <a:ext cx="2931206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Logistic Regression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Random Forest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XGBoost</a:t>
            </a: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036070" y="3007289"/>
            <a:ext cx="2481156" cy="481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Training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68366" y="4344036"/>
            <a:ext cx="3959693" cy="481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Preprocessing Pipeline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71462" y="5644271"/>
            <a:ext cx="309494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Why F1 Score?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195" y="5981445"/>
            <a:ext cx="4689071" cy="481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Classification Models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85935" y="7334190"/>
            <a:ext cx="4438347" cy="481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F1-based Model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06318" y="111290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0114" y="1330790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763342" y="3004454"/>
            <a:ext cx="6558588" cy="4950423"/>
            <a:chOff x="0" y="0"/>
            <a:chExt cx="1727365" cy="13038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27365" cy="1303815"/>
            </a:xfrm>
            <a:custGeom>
              <a:avLst/>
              <a:gdLst/>
              <a:ahLst/>
              <a:cxnLst/>
              <a:rect l="l" t="t" r="r" b="b"/>
              <a:pathLst>
                <a:path w="1727365" h="1303815">
                  <a:moveTo>
                    <a:pt x="0" y="0"/>
                  </a:moveTo>
                  <a:lnTo>
                    <a:pt x="1727365" y="0"/>
                  </a:lnTo>
                  <a:lnTo>
                    <a:pt x="1727365" y="1303815"/>
                  </a:lnTo>
                  <a:lnTo>
                    <a:pt x="0" y="1303815"/>
                  </a:lnTo>
                  <a:close/>
                </a:path>
              </a:pathLst>
            </a:custGeom>
            <a:solidFill>
              <a:srgbClr val="A44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727365" cy="1341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288" y="6389430"/>
            <a:ext cx="9106091" cy="2513354"/>
            <a:chOff x="0" y="0"/>
            <a:chExt cx="2398312" cy="6619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98312" cy="661953"/>
            </a:xfrm>
            <a:custGeom>
              <a:avLst/>
              <a:gdLst/>
              <a:ahLst/>
              <a:cxnLst/>
              <a:rect l="l" t="t" r="r" b="b"/>
              <a:pathLst>
                <a:path w="2398312" h="661953">
                  <a:moveTo>
                    <a:pt x="0" y="0"/>
                  </a:moveTo>
                  <a:lnTo>
                    <a:pt x="2398312" y="0"/>
                  </a:lnTo>
                  <a:lnTo>
                    <a:pt x="2398312" y="661953"/>
                  </a:lnTo>
                  <a:lnTo>
                    <a:pt x="0" y="661953"/>
                  </a:lnTo>
                  <a:close/>
                </a:path>
              </a:pathLst>
            </a:custGeom>
            <a:solidFill>
              <a:srgbClr val="A44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398312" cy="700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842146" y="3088320"/>
            <a:ext cx="6417154" cy="4770997"/>
          </a:xfrm>
          <a:custGeom>
            <a:avLst/>
            <a:gdLst/>
            <a:ahLst/>
            <a:cxnLst/>
            <a:rect l="l" t="t" r="r" b="b"/>
            <a:pathLst>
              <a:path w="6417154" h="4770997">
                <a:moveTo>
                  <a:pt x="0" y="0"/>
                </a:moveTo>
                <a:lnTo>
                  <a:pt x="6417154" y="0"/>
                </a:lnTo>
                <a:lnTo>
                  <a:pt x="6417154" y="4770997"/>
                </a:lnTo>
                <a:lnTo>
                  <a:pt x="0" y="4770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05000" y="6420171"/>
            <a:ext cx="8971592" cy="2430785"/>
          </a:xfrm>
          <a:custGeom>
            <a:avLst/>
            <a:gdLst/>
            <a:ahLst/>
            <a:cxnLst/>
            <a:rect l="l" t="t" r="r" b="b"/>
            <a:pathLst>
              <a:path w="8971592" h="2430785">
                <a:moveTo>
                  <a:pt x="0" y="0"/>
                </a:moveTo>
                <a:lnTo>
                  <a:pt x="8971592" y="0"/>
                </a:lnTo>
                <a:lnTo>
                  <a:pt x="8971592" y="2430784"/>
                </a:lnTo>
                <a:lnTo>
                  <a:pt x="0" y="2430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290616" y="1359138"/>
            <a:ext cx="3695800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1868" y="1744276"/>
            <a:ext cx="9965987" cy="68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3"/>
              </a:lnSpc>
            </a:pPr>
            <a:r>
              <a:rPr lang="en-US" sz="5412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Model Evaluation Results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4449" y="4156904"/>
            <a:ext cx="6274683" cy="98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8"/>
              </a:lnSpc>
            </a:pPr>
            <a:r>
              <a:rPr lang="en-US" sz="284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Selected model: </a:t>
            </a:r>
            <a:r>
              <a:rPr lang="en-US" sz="284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Random Forest</a:t>
            </a:r>
          </a:p>
          <a:p>
            <a:pPr algn="l">
              <a:lnSpc>
                <a:spcPts val="3978"/>
              </a:lnSpc>
            </a:pPr>
            <a:r>
              <a:rPr lang="en-US" sz="284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Selection metric: </a:t>
            </a:r>
            <a:r>
              <a:rPr lang="en-US" sz="284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F1 Score = 0.6383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9885" y="7427793"/>
            <a:ext cx="8735533" cy="8229600"/>
          </a:xfrm>
          <a:custGeom>
            <a:avLst/>
            <a:gdLst/>
            <a:ahLst/>
            <a:cxnLst/>
            <a:rect l="l" t="t" r="r" b="b"/>
            <a:pathLst>
              <a:path w="8735533" h="8229600">
                <a:moveTo>
                  <a:pt x="0" y="0"/>
                </a:moveTo>
                <a:lnTo>
                  <a:pt x="8735533" y="0"/>
                </a:lnTo>
                <a:lnTo>
                  <a:pt x="87355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978072" y="111290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16230600" y="0"/>
                </a:moveTo>
                <a:lnTo>
                  <a:pt x="0" y="0"/>
                </a:lnTo>
                <a:lnTo>
                  <a:pt x="0" y="8061198"/>
                </a:lnTo>
                <a:lnTo>
                  <a:pt x="16230600" y="8061198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48099" y="2508764"/>
            <a:ext cx="8736367" cy="5174370"/>
            <a:chOff x="0" y="0"/>
            <a:chExt cx="2300936" cy="1362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0936" cy="1362797"/>
            </a:xfrm>
            <a:custGeom>
              <a:avLst/>
              <a:gdLst/>
              <a:ahLst/>
              <a:cxnLst/>
              <a:rect l="l" t="t" r="r" b="b"/>
              <a:pathLst>
                <a:path w="2300936" h="1362797">
                  <a:moveTo>
                    <a:pt x="0" y="0"/>
                  </a:moveTo>
                  <a:lnTo>
                    <a:pt x="2300936" y="0"/>
                  </a:lnTo>
                  <a:lnTo>
                    <a:pt x="2300936" y="1362797"/>
                  </a:lnTo>
                  <a:lnTo>
                    <a:pt x="0" y="1362797"/>
                  </a:lnTo>
                  <a:close/>
                </a:path>
              </a:pathLst>
            </a:custGeom>
            <a:solidFill>
              <a:srgbClr val="A44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00936" cy="1400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18575" y="3100710"/>
            <a:ext cx="1402942" cy="527857"/>
          </a:xfrm>
          <a:custGeom>
            <a:avLst/>
            <a:gdLst/>
            <a:ahLst/>
            <a:cxnLst/>
            <a:rect l="l" t="t" r="r" b="b"/>
            <a:pathLst>
              <a:path w="1402942" h="527857">
                <a:moveTo>
                  <a:pt x="0" y="0"/>
                </a:moveTo>
                <a:lnTo>
                  <a:pt x="1402942" y="0"/>
                </a:lnTo>
                <a:lnTo>
                  <a:pt x="1402942" y="527857"/>
                </a:lnTo>
                <a:lnTo>
                  <a:pt x="0" y="527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91776" y="5692449"/>
            <a:ext cx="1402942" cy="527857"/>
          </a:xfrm>
          <a:custGeom>
            <a:avLst/>
            <a:gdLst/>
            <a:ahLst/>
            <a:cxnLst/>
            <a:rect l="l" t="t" r="r" b="b"/>
            <a:pathLst>
              <a:path w="1402942" h="527857">
                <a:moveTo>
                  <a:pt x="0" y="0"/>
                </a:moveTo>
                <a:lnTo>
                  <a:pt x="1402942" y="0"/>
                </a:lnTo>
                <a:lnTo>
                  <a:pt x="1402942" y="527857"/>
                </a:lnTo>
                <a:lnTo>
                  <a:pt x="0" y="527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41048" y="1028700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629147" y="8257297"/>
            <a:ext cx="3023801" cy="1161644"/>
          </a:xfrm>
          <a:custGeom>
            <a:avLst/>
            <a:gdLst/>
            <a:ahLst/>
            <a:cxnLst/>
            <a:rect l="l" t="t" r="r" b="b"/>
            <a:pathLst>
              <a:path w="3023801" h="1161644">
                <a:moveTo>
                  <a:pt x="0" y="0"/>
                </a:moveTo>
                <a:lnTo>
                  <a:pt x="3023802" y="0"/>
                </a:lnTo>
                <a:lnTo>
                  <a:pt x="3023802" y="1161644"/>
                </a:lnTo>
                <a:lnTo>
                  <a:pt x="0" y="1161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28042" y="2562194"/>
            <a:ext cx="8565329" cy="5042838"/>
          </a:xfrm>
          <a:custGeom>
            <a:avLst/>
            <a:gdLst/>
            <a:ahLst/>
            <a:cxnLst/>
            <a:rect l="l" t="t" r="r" b="b"/>
            <a:pathLst>
              <a:path w="8565329" h="5042838">
                <a:moveTo>
                  <a:pt x="0" y="0"/>
                </a:moveTo>
                <a:lnTo>
                  <a:pt x="8565330" y="0"/>
                </a:lnTo>
                <a:lnTo>
                  <a:pt x="8565330" y="5042837"/>
                </a:lnTo>
                <a:lnTo>
                  <a:pt x="0" y="50428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91985" y="1057143"/>
            <a:ext cx="3695800" cy="45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87258" y="1451705"/>
            <a:ext cx="10481569" cy="138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8"/>
              </a:lnSpc>
            </a:pPr>
            <a:r>
              <a:rPr lang="en-US" sz="5644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Insights and Interactive Application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87258" y="3580942"/>
            <a:ext cx="4786135" cy="211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city_development_index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is_low_cdi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company information missingness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city-development × experience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education level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training intensity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4718" y="6198418"/>
            <a:ext cx="4786135" cy="1406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Single candidate analysis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Batch CSV analysis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Intent-based ranking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CSV export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6582" y="8023772"/>
            <a:ext cx="11121854" cy="701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Production Architecture: FastAPI Backend (Pydantic validation) + Streamlit Web UI + Docker containerization.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42698" y="3057483"/>
            <a:ext cx="4179044" cy="52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085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Top predictive signals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87258" y="5665501"/>
            <a:ext cx="3437047" cy="52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085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The app supports: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21734" y="8696916"/>
            <a:ext cx="6932101" cy="50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 spc="-198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Feature importance is predictive, not causal.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9885" y="7427793"/>
            <a:ext cx="8735533" cy="8229600"/>
          </a:xfrm>
          <a:custGeom>
            <a:avLst/>
            <a:gdLst/>
            <a:ahLst/>
            <a:cxnLst/>
            <a:rect l="l" t="t" r="r" b="b"/>
            <a:pathLst>
              <a:path w="8735533" h="8229600">
                <a:moveTo>
                  <a:pt x="0" y="0"/>
                </a:moveTo>
                <a:lnTo>
                  <a:pt x="8735533" y="0"/>
                </a:lnTo>
                <a:lnTo>
                  <a:pt x="87355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978072" y="1112901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16230600" y="0"/>
                </a:moveTo>
                <a:lnTo>
                  <a:pt x="0" y="0"/>
                </a:lnTo>
                <a:lnTo>
                  <a:pt x="0" y="8061198"/>
                </a:lnTo>
                <a:lnTo>
                  <a:pt x="16230600" y="8061198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41048" y="1028700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29147" y="8257297"/>
            <a:ext cx="3023801" cy="1161644"/>
          </a:xfrm>
          <a:custGeom>
            <a:avLst/>
            <a:gdLst/>
            <a:ahLst/>
            <a:cxnLst/>
            <a:rect l="l" t="t" r="r" b="b"/>
            <a:pathLst>
              <a:path w="3023801" h="1161644">
                <a:moveTo>
                  <a:pt x="0" y="0"/>
                </a:moveTo>
                <a:lnTo>
                  <a:pt x="3023802" y="0"/>
                </a:lnTo>
                <a:lnTo>
                  <a:pt x="3023802" y="1161644"/>
                </a:lnTo>
                <a:lnTo>
                  <a:pt x="0" y="11616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91985" y="1057143"/>
            <a:ext cx="3695800" cy="45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87258" y="1451705"/>
            <a:ext cx="8823614" cy="138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8"/>
              </a:lnSpc>
            </a:pPr>
            <a:r>
              <a:rPr lang="en-US" sz="5644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Business Impact and Responsible Use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22449" y="4806586"/>
            <a:ext cx="6858312" cy="112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094" lvl="1" indent="-234047" algn="l">
              <a:lnSpc>
                <a:spcPts val="3035"/>
              </a:lnSpc>
              <a:buFont typeface="Arial"/>
              <a:buChar char="•"/>
            </a:pPr>
            <a:r>
              <a:rPr lang="en-US" sz="216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Faster first-level candidate analysis</a:t>
            </a:r>
          </a:p>
          <a:p>
            <a:pPr marL="468094" lvl="1" indent="-234047" algn="l">
              <a:lnSpc>
                <a:spcPts val="3035"/>
              </a:lnSpc>
              <a:buFont typeface="Arial"/>
              <a:buChar char="•"/>
            </a:pPr>
            <a:r>
              <a:rPr lang="en-US" sz="216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Better prioritization for recruiter follow-up</a:t>
            </a:r>
          </a:p>
          <a:p>
            <a:pPr marL="468094" lvl="1" indent="-234047" algn="l">
              <a:lnSpc>
                <a:spcPts val="3035"/>
              </a:lnSpc>
              <a:buFont typeface="Arial"/>
              <a:buChar char="•"/>
            </a:pPr>
            <a:r>
              <a:rPr lang="en-US" sz="216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Consistent scoring through a saved ML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08161" y="4529215"/>
            <a:ext cx="6585210" cy="1406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Target measures job-change intention only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No hire/reject outcome in the dataset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No CV or job-description matching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Requires fairness testing before real use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2232" y="3948372"/>
            <a:ext cx="3215553" cy="6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8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Business value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08161" y="3925029"/>
            <a:ext cx="2476424" cy="63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3659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47354" y="6511188"/>
            <a:ext cx="7793292" cy="9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678" spc="-176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678" u="none" strike="noStrike" spc="-176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ext step: train on real hiring-outcome data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678" u="none" strike="noStrike" spc="-176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and add CV-to-job matching with fairness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515734" y="1028700"/>
            <a:ext cx="7315200" cy="3182112"/>
          </a:xfrm>
          <a:custGeom>
            <a:avLst/>
            <a:gdLst/>
            <a:ahLst/>
            <a:cxnLst/>
            <a:rect l="l" t="t" r="r" b="b"/>
            <a:pathLst>
              <a:path w="7315200" h="3182112">
                <a:moveTo>
                  <a:pt x="0" y="3182112"/>
                </a:moveTo>
                <a:lnTo>
                  <a:pt x="7315200" y="3182112"/>
                </a:lnTo>
                <a:lnTo>
                  <a:pt x="7315200" y="0"/>
                </a:lnTo>
                <a:lnTo>
                  <a:pt x="0" y="0"/>
                </a:lnTo>
                <a:lnTo>
                  <a:pt x="0" y="31821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25744" y="5743754"/>
            <a:ext cx="7315200" cy="3182112"/>
          </a:xfrm>
          <a:custGeom>
            <a:avLst/>
            <a:gdLst/>
            <a:ahLst/>
            <a:cxnLst/>
            <a:rect l="l" t="t" r="r" b="b"/>
            <a:pathLst>
              <a:path w="7315200" h="3182112">
                <a:moveTo>
                  <a:pt x="0" y="3182112"/>
                </a:moveTo>
                <a:lnTo>
                  <a:pt x="7315200" y="3182112"/>
                </a:lnTo>
                <a:lnTo>
                  <a:pt x="7315200" y="0"/>
                </a:lnTo>
                <a:lnTo>
                  <a:pt x="0" y="0"/>
                </a:lnTo>
                <a:lnTo>
                  <a:pt x="0" y="31821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74641" y="1028700"/>
            <a:ext cx="7938135" cy="8229600"/>
          </a:xfrm>
          <a:custGeom>
            <a:avLst/>
            <a:gdLst/>
            <a:ahLst/>
            <a:cxnLst/>
            <a:rect l="l" t="t" r="r" b="b"/>
            <a:pathLst>
              <a:path w="7938135" h="8229600">
                <a:moveTo>
                  <a:pt x="0" y="0"/>
                </a:moveTo>
                <a:lnTo>
                  <a:pt x="7938135" y="0"/>
                </a:lnTo>
                <a:lnTo>
                  <a:pt x="79381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535186" y="1449226"/>
            <a:ext cx="16230600" cy="8061198"/>
          </a:xfrm>
          <a:custGeom>
            <a:avLst/>
            <a:gdLst/>
            <a:ahLst/>
            <a:cxnLst/>
            <a:rect l="l" t="t" r="r" b="b"/>
            <a:pathLst>
              <a:path w="16230600" h="8061198">
                <a:moveTo>
                  <a:pt x="0" y="0"/>
                </a:moveTo>
                <a:lnTo>
                  <a:pt x="16230600" y="0"/>
                </a:lnTo>
                <a:lnTo>
                  <a:pt x="16230600" y="8061198"/>
                </a:lnTo>
                <a:lnTo>
                  <a:pt x="0" y="8061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4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0114" y="1330790"/>
            <a:ext cx="508670" cy="560261"/>
          </a:xfrm>
          <a:custGeom>
            <a:avLst/>
            <a:gdLst/>
            <a:ahLst/>
            <a:cxnLst/>
            <a:rect l="l" t="t" r="r" b="b"/>
            <a:pathLst>
              <a:path w="508670" h="560261">
                <a:moveTo>
                  <a:pt x="0" y="0"/>
                </a:moveTo>
                <a:lnTo>
                  <a:pt x="508670" y="0"/>
                </a:lnTo>
                <a:lnTo>
                  <a:pt x="508670" y="560261"/>
                </a:lnTo>
                <a:lnTo>
                  <a:pt x="0" y="560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9184005" y="944499"/>
            <a:ext cx="8075295" cy="8229600"/>
          </a:xfrm>
          <a:custGeom>
            <a:avLst/>
            <a:gdLst/>
            <a:ahLst/>
            <a:cxnLst/>
            <a:rect l="l" t="t" r="r" b="b"/>
            <a:pathLst>
              <a:path w="8075295" h="8229600">
                <a:moveTo>
                  <a:pt x="8075295" y="0"/>
                </a:moveTo>
                <a:lnTo>
                  <a:pt x="0" y="0"/>
                </a:lnTo>
                <a:lnTo>
                  <a:pt x="0" y="8229600"/>
                </a:lnTo>
                <a:lnTo>
                  <a:pt x="8075295" y="8229600"/>
                </a:lnTo>
                <a:lnTo>
                  <a:pt x="8075295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515734" y="8096656"/>
            <a:ext cx="3023801" cy="1161644"/>
          </a:xfrm>
          <a:custGeom>
            <a:avLst/>
            <a:gdLst/>
            <a:ahLst/>
            <a:cxnLst/>
            <a:rect l="l" t="t" r="r" b="b"/>
            <a:pathLst>
              <a:path w="3023801" h="1161644">
                <a:moveTo>
                  <a:pt x="0" y="0"/>
                </a:moveTo>
                <a:lnTo>
                  <a:pt x="3023801" y="0"/>
                </a:lnTo>
                <a:lnTo>
                  <a:pt x="3023801" y="1161644"/>
                </a:lnTo>
                <a:lnTo>
                  <a:pt x="0" y="11616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173758" y="1028700"/>
            <a:ext cx="2085542" cy="899390"/>
          </a:xfrm>
          <a:custGeom>
            <a:avLst/>
            <a:gdLst/>
            <a:ahLst/>
            <a:cxnLst/>
            <a:rect l="l" t="t" r="r" b="b"/>
            <a:pathLst>
              <a:path w="2085542" h="899390">
                <a:moveTo>
                  <a:pt x="0" y="0"/>
                </a:moveTo>
                <a:lnTo>
                  <a:pt x="2085542" y="0"/>
                </a:lnTo>
                <a:lnTo>
                  <a:pt x="2085542" y="899390"/>
                </a:lnTo>
                <a:lnTo>
                  <a:pt x="0" y="899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284945" y="6379244"/>
            <a:ext cx="1402942" cy="527857"/>
          </a:xfrm>
          <a:custGeom>
            <a:avLst/>
            <a:gdLst/>
            <a:ahLst/>
            <a:cxnLst/>
            <a:rect l="l" t="t" r="r" b="b"/>
            <a:pathLst>
              <a:path w="1402942" h="527857">
                <a:moveTo>
                  <a:pt x="0" y="0"/>
                </a:moveTo>
                <a:lnTo>
                  <a:pt x="1402943" y="0"/>
                </a:lnTo>
                <a:lnTo>
                  <a:pt x="1402943" y="527857"/>
                </a:lnTo>
                <a:lnTo>
                  <a:pt x="0" y="527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01214" y="4020312"/>
            <a:ext cx="4274606" cy="168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2"/>
              </a:lnSpc>
            </a:pPr>
            <a:r>
              <a:rPr lang="en-US" sz="9866" b="1">
                <a:gradFill>
                  <a:gsLst>
                    <a:gs pos="0">
                      <a:srgbClr val="DF5EFF">
                        <a:alpha val="100000"/>
                      </a:srgbClr>
                    </a:gs>
                    <a:gs pos="100000">
                      <a:srgbClr val="A958FF">
                        <a:alpha val="100000"/>
                      </a:srgbClr>
                    </a:gs>
                  </a:gsLst>
                  <a:lin ang="0"/>
                </a:gra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Thank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90616" y="1359132"/>
            <a:ext cx="3695800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2">
                <a:solidFill>
                  <a:srgbClr val="CFD5EA"/>
                </a:solidFill>
                <a:latin typeface="TT Firs Neue"/>
                <a:ea typeface="TT Firs Neue"/>
                <a:cs typeface="TT Firs Neue"/>
                <a:sym typeface="TT Firs Neue"/>
              </a:rPr>
              <a:t>SRA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2971" y="5440686"/>
            <a:ext cx="4274606" cy="168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2"/>
              </a:lnSpc>
            </a:pPr>
            <a:r>
              <a:rPr lang="en-US" sz="9866" b="1">
                <a:solidFill>
                  <a:srgbClr val="CFD5EA"/>
                </a:solidFill>
                <a:latin typeface="TT Autonomous Mono Bold"/>
                <a:ea typeface="TT Autonomous Mono Bold"/>
                <a:cs typeface="TT Autonomous Mono Bold"/>
                <a:sym typeface="TT Autonomous Mono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384</Words>
  <Application>Microsoft Office PowerPoint</Application>
  <PresentationFormat>Custom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TT Firs Neue</vt:lpstr>
      <vt:lpstr>TT Autonomous Mono</vt:lpstr>
      <vt:lpstr>Calibri</vt:lpstr>
      <vt:lpstr>Helvetica World Bold</vt:lpstr>
      <vt:lpstr>TT Firs Neue Bold</vt:lpstr>
      <vt:lpstr>TT Autonomous Mono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ML_Pro_Presentation</dc:title>
  <cp:lastModifiedBy>Hassan Muhammed</cp:lastModifiedBy>
  <cp:revision>2</cp:revision>
  <dcterms:created xsi:type="dcterms:W3CDTF">2006-08-16T00:00:00Z</dcterms:created>
  <dcterms:modified xsi:type="dcterms:W3CDTF">2026-09-22T17:29:33Z</dcterms:modified>
  <dc:identifier>DAHV0e4_1w0</dc:identifier>
</cp:coreProperties>
</file>